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98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7160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566160" y="14630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297680" y="1463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to HTML Converter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33756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B579A">
              <a:alpha val="20000"/>
            </a:srgbClr>
          </a:solidFill>
          <a:ln w="12700">
            <a:solidFill>
              <a:srgbClr val="2B57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.docx  Word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333756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D6A4F">
              <a:alpha val="2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.xlsx  Excel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333756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6B3FA0">
              <a:alpha val="2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Editor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browser-side  ·  No server upload  ·  Semantic HTML5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documents to HTML is tedious, error-prone, and produces style-bloated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Manually tagging every heading, paragraph, list and 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56816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568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Word pastes bring inline styles, XML junk, MSO conditional comments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505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Fax numbers accidentally get tel: links alongside phone numbers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443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Bold table headers stay as &lt;td&gt; instead of &lt;th scope="col"&gt;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38144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381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Multiple &lt;strong&gt; tags stack up from repeated formatting passes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3931920" cy="329184"/>
          </a:xfrm>
          <a:prstGeom prst="roundRect">
            <a:avLst>
              <a:gd name="adj" fmla="val 16667"/>
            </a:avLst>
          </a:prstGeom>
          <a:solidFill>
            <a:srgbClr val="EDF7F0"/>
          </a:solidFill>
          <a:ln w="12700">
            <a:solidFill>
              <a:srgbClr val="B7E1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45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14 automatic transformation rules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029968"/>
            <a:ext cx="3931920" cy="329184"/>
          </a:xfrm>
          <a:prstGeom prst="roundRect">
            <a:avLst>
              <a:gd name="adj" fmla="val 16667"/>
            </a:avLst>
          </a:prstGeom>
          <a:solidFill>
            <a:srgbClr val="EDF7F0"/>
          </a:solidFill>
          <a:ln w="12700">
            <a:solidFill>
              <a:srgbClr val="B7E1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299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Strips all inline styles &amp; MSO junk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414016"/>
            <a:ext cx="3931920" cy="329184"/>
          </a:xfrm>
          <a:prstGeom prst="roundRect">
            <a:avLst>
              <a:gd name="adj" fmla="val 16667"/>
            </a:avLst>
          </a:prstGeom>
          <a:solidFill>
            <a:srgbClr val="EDF7F0"/>
          </a:solidFill>
          <a:ln w="12700">
            <a:solidFill>
              <a:srgbClr val="B7E1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Bold rows → &lt;th scope="col"&gt; detection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98064"/>
            <a:ext cx="3931920" cy="329184"/>
          </a:xfrm>
          <a:prstGeom prst="roundRect">
            <a:avLst>
              <a:gd name="adj" fmla="val 16667"/>
            </a:avLst>
          </a:prstGeom>
          <a:solidFill>
            <a:srgbClr val="EDF7F0"/>
          </a:solidFill>
          <a:ln w="12700">
            <a:solidFill>
              <a:srgbClr val="B7E1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7980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Fax number exclusion from tel: links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182112"/>
            <a:ext cx="3931920" cy="329184"/>
          </a:xfrm>
          <a:prstGeom prst="roundRect">
            <a:avLst>
              <a:gd name="adj" fmla="val 16667"/>
            </a:avLst>
          </a:prstGeom>
          <a:solidFill>
            <a:srgbClr val="EDF7F0"/>
          </a:solidFill>
          <a:ln w="12700">
            <a:solidFill>
              <a:srgbClr val="B7E1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82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Strikethrough text removed entirely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3931920" cy="329184"/>
          </a:xfrm>
          <a:prstGeom prst="roundRect">
            <a:avLst>
              <a:gd name="adj" fmla="val 16667"/>
            </a:avLst>
          </a:prstGeom>
          <a:solidFill>
            <a:srgbClr val="EDF7F0"/>
          </a:solidFill>
          <a:ln w="12700">
            <a:solidFill>
              <a:srgbClr val="B7E1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661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&lt;strong&gt; always wraps &lt;a&gt; links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950208"/>
            <a:ext cx="3931920" cy="329184"/>
          </a:xfrm>
          <a:prstGeom prst="roundRect">
            <a:avLst>
              <a:gd name="adj" fmla="val 16667"/>
            </a:avLst>
          </a:prstGeom>
          <a:solidFill>
            <a:srgbClr val="EDF7F0"/>
          </a:solidFill>
          <a:ln w="12700">
            <a:solidFill>
              <a:srgbClr val="B7E1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9502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file:// URLs fixed to https://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4334256"/>
            <a:ext cx="3931920" cy="329184"/>
          </a:xfrm>
          <a:prstGeom prst="roundRect">
            <a:avLst>
              <a:gd name="adj" fmla="val 16667"/>
            </a:avLst>
          </a:prstGeom>
          <a:solidFill>
            <a:srgbClr val="EDF7F0"/>
          </a:solidFill>
          <a:ln w="12700">
            <a:solidFill>
              <a:srgbClr val="B7E1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3342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Consecutive &lt;strong&gt; tag merging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EEF3FB"/>
          </a:solidFill>
          <a:ln w="19050">
            <a:solidFill>
              <a:srgbClr val="2B57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896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.docx upload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.xlsx / .csv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Editor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FFF8EE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896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Mammoth.js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SheetJS (XLSX)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contenteditable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26280" y="86868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FEF3F2"/>
          </a:solidFill>
          <a:ln w="19050">
            <a:solidFill>
              <a:srgbClr val="C84B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896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 styles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div→p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177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span→b/i/u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29400" y="86868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F3EEFB"/>
          </a:solidFill>
          <a:ln w="19050">
            <a:solidFill>
              <a:srgbClr val="6B3F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896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 rules run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084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 pass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08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String pass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06908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HTML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406908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4612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Indented source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406908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/ Download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file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49640" y="4251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Conversion Rules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identically to file uploads and the text editor — same output, every time.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86384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→ h2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1371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becomes &lt;h2&gt;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" y="1618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→ tel: link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847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Fax numbers excluded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066543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65760" y="2066543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65760" y="2066543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" y="20939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Sup/Sub → Unicode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&lt;sup&gt;TM&lt;/sup&gt; → &amp;trade;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542032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65760" y="2542032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6384" y="2569463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strong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2798063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 becomes &lt;strong&gt;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65760" y="3017520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" y="3044951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i/em → strong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273551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italic → bold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493008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65760" y="3493008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5760" y="349300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6384" y="3520439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underline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6384" y="3749039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&lt;u&gt; unwrapped, text kept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1115568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663440" y="1115568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663440" y="111556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84064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MSO junk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84064" y="1371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&lt;xml&gt;, &lt;!--[if mso]--&gt; removed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1682496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4663440" y="1682496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663440" y="1682496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84064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entities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84064" y="19385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(C)(TM)(R) → &amp;copy;&amp;trade;&amp;reg;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2249424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4663440" y="2249424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663440" y="2249424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84064" y="22768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scope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84064" y="25054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 row → &lt;th scope="col"&gt;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2816352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4663440" y="2816352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4663440" y="2816352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84064" y="2843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Bluecard®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84064" y="30723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Bluecard → Bluecard&amp;reg;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3383280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663440" y="3383280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663440" y="3383280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84064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&amp;nbsp;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84064" y="36393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&amp;nbsp; → regular space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3950208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4663440" y="3950208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4663440" y="3950208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084064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strikethrough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84064" y="4206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&lt;s&gt;/&lt;del&gt;/~~text~~ and content removed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4663440"/>
            <a:ext cx="8412480" cy="329184"/>
          </a:xfrm>
          <a:prstGeom prst="roundRect">
            <a:avLst>
              <a:gd name="adj" fmla="val 22222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E — strong wraps a  |  Rule C — adjacent/nested strong merged  |  Rule F — file:// fixed  |  Rule G — unclosed quotes/tags auto-fixed</a:t>
            </a:r>
            <a:endParaRPr lang="en-US" sz="850" dirty="0"/>
          </a:p>
        </p:txBody>
      </p:sp>
      <p:sp>
        <p:nvSpPr>
          <p:cNvPr id="66" name="Shape 57"/>
          <p:cNvSpPr/>
          <p:nvPr/>
        </p:nvSpPr>
        <p:spPr>
          <a:xfrm>
            <a:off x="365760" y="3986784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" name="Shape 58"/>
          <p:cNvSpPr/>
          <p:nvPr/>
        </p:nvSpPr>
        <p:spPr>
          <a:xfrm>
            <a:off x="365760" y="3986784"/>
            <a:ext cx="347472" cy="493776"/>
          </a:xfrm>
          <a:prstGeom prst="roundRect">
            <a:avLst>
              <a:gd name="adj" fmla="val 21053"/>
            </a:avLst>
          </a:prstGeom>
          <a:solidFill>
            <a:srgbClr val="7C4DAB"/>
          </a:solidFill>
          <a:ln w="12700">
            <a:solidFill>
              <a:srgbClr val="9B2C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59"/>
          <p:cNvSpPr/>
          <p:nvPr/>
        </p:nvSpPr>
        <p:spPr>
          <a:xfrm>
            <a:off x="365760" y="3986784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800" dirty="0"/>
          </a:p>
        </p:txBody>
      </p:sp>
      <p:sp>
        <p:nvSpPr>
          <p:cNvPr id="69" name="Text 60"/>
          <p:cNvSpPr/>
          <p:nvPr/>
        </p:nvSpPr>
        <p:spPr>
          <a:xfrm>
            <a:off x="786384" y="401421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syntax errors</a:t>
            </a:r>
            <a:endParaRPr lang="en-US" sz="1000" dirty="0"/>
          </a:p>
        </p:txBody>
      </p:sp>
      <p:sp>
        <p:nvSpPr>
          <p:cNvPr id="70" name="Text 61"/>
          <p:cNvSpPr/>
          <p:nvPr/>
        </p:nvSpPr>
        <p:spPr>
          <a:xfrm>
            <a:off x="786384" y="42428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Unclosed quotes/tags auto-fixed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Text Editor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Toolbar Formatting Controls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393192"/>
          </a:xfrm>
          <a:prstGeom prst="roundRect">
            <a:avLst>
              <a:gd name="adj" fmla="val 16279"/>
            </a:avLst>
          </a:prstGeom>
          <a:solidFill>
            <a:srgbClr val="EEF3FB"/>
          </a:solidFill>
          <a:ln w="12700">
            <a:solidFill>
              <a:srgbClr val="C7D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Format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82880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Paragraph, H2–H6, Blockquote, Code block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4114800" cy="393192"/>
          </a:xfrm>
          <a:prstGeom prst="roundRect">
            <a:avLst>
              <a:gd name="adj" fmla="val 16279"/>
            </a:avLst>
          </a:prstGeom>
          <a:solidFill>
            <a:srgbClr val="EEF3FB"/>
          </a:solidFill>
          <a:ln w="12700">
            <a:solidFill>
              <a:srgbClr val="C7D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Bold, Italic, Underline, Strikethrough, Sup/Sub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4114800" cy="393192"/>
          </a:xfrm>
          <a:prstGeom prst="roundRect">
            <a:avLst>
              <a:gd name="adj" fmla="val 16279"/>
            </a:avLst>
          </a:prstGeom>
          <a:solidFill>
            <a:srgbClr val="EEF3FB"/>
          </a:solidFill>
          <a:ln w="12700">
            <a:solidFill>
              <a:srgbClr val="C7D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95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list, Numbered list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43784"/>
            <a:ext cx="4114800" cy="393192"/>
          </a:xfrm>
          <a:prstGeom prst="roundRect">
            <a:avLst>
              <a:gd name="adj" fmla="val 16279"/>
            </a:avLst>
          </a:prstGeom>
          <a:solidFill>
            <a:srgbClr val="EEF3FB"/>
          </a:solidFill>
          <a:ln w="12700">
            <a:solidFill>
              <a:srgbClr val="C7D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71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0" y="28712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Left, Centre, Right, Justify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319272"/>
            <a:ext cx="4114800" cy="393192"/>
          </a:xfrm>
          <a:prstGeom prst="roundRect">
            <a:avLst>
              <a:gd name="adj" fmla="val 16279"/>
            </a:avLst>
          </a:prstGeom>
          <a:solidFill>
            <a:srgbClr val="EEF3FB"/>
          </a:solidFill>
          <a:ln w="12700">
            <a:solidFill>
              <a:srgbClr val="C7D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46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0" y="3346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/ Decrease indent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114800" cy="393192"/>
          </a:xfrm>
          <a:prstGeom prst="roundRect">
            <a:avLst>
              <a:gd name="adj" fmla="val 16279"/>
            </a:avLst>
          </a:prstGeom>
          <a:solidFill>
            <a:srgbClr val="EEF3FB"/>
          </a:solidFill>
          <a:ln w="12700">
            <a:solidFill>
              <a:srgbClr val="C7D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0" y="3822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(with URL prompt), Horizontal rule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270248"/>
            <a:ext cx="4114800" cy="393192"/>
          </a:xfrm>
          <a:prstGeom prst="roundRect">
            <a:avLst>
              <a:gd name="adj" fmla="val 16279"/>
            </a:avLst>
          </a:prstGeom>
          <a:solidFill>
            <a:srgbClr val="EEF3FB"/>
          </a:solidFill>
          <a:ln w="12700">
            <a:solidFill>
              <a:srgbClr val="C7D9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97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28800" y="4297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formatting, Clear all content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HTML → Clean Semantic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417320"/>
            <a:ext cx="3931920" cy="393192"/>
          </a:xfrm>
          <a:prstGeom prst="roundRect">
            <a:avLst>
              <a:gd name="adj" fmla="val 16279"/>
            </a:avLst>
          </a:prstGeom>
          <a:solidFill>
            <a:srgbClr val="F3EEFB"/>
          </a:solidFill>
          <a:ln w="12700">
            <a:solidFill>
              <a:srgbClr val="D4B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444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903720" y="1444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&lt;p&gt;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1892808"/>
            <a:ext cx="3931920" cy="393192"/>
          </a:xfrm>
          <a:prstGeom prst="roundRect">
            <a:avLst>
              <a:gd name="adj" fmla="val 16279"/>
            </a:avLst>
          </a:prstGeom>
          <a:solidFill>
            <a:srgbClr val="F3EEFB"/>
          </a:solidFill>
          <a:ln w="12700">
            <a:solidFill>
              <a:srgbClr val="D4B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920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style="font-weight"&gt;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03720" y="1920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&lt;b&gt; → &lt;strong&gt;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2368296"/>
            <a:ext cx="3931920" cy="393192"/>
          </a:xfrm>
          <a:prstGeom prst="roundRect">
            <a:avLst>
              <a:gd name="adj" fmla="val 16279"/>
            </a:avLst>
          </a:prstGeom>
          <a:solidFill>
            <a:srgbClr val="F3EEFB"/>
          </a:solidFill>
          <a:ln w="12700">
            <a:solidFill>
              <a:srgbClr val="D4B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395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style="font-style"&gt;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03720" y="23957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&lt;i&gt; → &lt;strong&gt;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2843784"/>
            <a:ext cx="3931920" cy="393192"/>
          </a:xfrm>
          <a:prstGeom prst="roundRect">
            <a:avLst>
              <a:gd name="adj" fmla="val 16279"/>
            </a:avLst>
          </a:prstGeom>
          <a:solidFill>
            <a:srgbClr val="F3EEFB"/>
          </a:solidFill>
          <a:ln w="12700">
            <a:solidFill>
              <a:srgbClr val="D4B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712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style="underline"&gt;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03720" y="28712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&lt;u&gt; → removed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3319272"/>
            <a:ext cx="3931920" cy="393192"/>
          </a:xfrm>
          <a:prstGeom prst="roundRect">
            <a:avLst>
              <a:gd name="adj" fmla="val 16279"/>
            </a:avLst>
          </a:prstGeom>
          <a:solidFill>
            <a:srgbClr val="F3EEFB"/>
          </a:solidFill>
          <a:ln w="12700">
            <a:solidFill>
              <a:srgbClr val="D4B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3467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style="text-align:…"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03720" y="33467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attribute stripped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3794760"/>
            <a:ext cx="3931920" cy="393192"/>
          </a:xfrm>
          <a:prstGeom prst="roundRect">
            <a:avLst>
              <a:gd name="adj" fmla="val 16279"/>
            </a:avLst>
          </a:prstGeom>
          <a:solidFill>
            <a:srgbClr val="F3EEFB"/>
          </a:solidFill>
          <a:ln w="12700">
            <a:solidFill>
              <a:srgbClr val="D4B8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&lt;font color="…"&gt;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03720" y="3822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tag removed, text kept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46320" y="4270248"/>
            <a:ext cx="3931920" cy="393192"/>
          </a:xfrm>
          <a:prstGeom prst="roundRect">
            <a:avLst>
              <a:gd name="adj" fmla="val 16279"/>
            </a:avLst>
          </a:prstGeom>
          <a:solidFill>
            <a:srgbClr val="F3EEFB"/>
          </a:solidFill>
          <a:ln w="12700">
            <a:solidFill>
              <a:srgbClr val="D4B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class="…"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03720" y="4297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attribute stripped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Table Detection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first-row cells are automatically promoted to semantic column headings.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(Mammoth raw output)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&lt;td&gt;&lt;strong&gt;Name&lt;/strong&gt;&lt;/td&gt;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&lt;td&gt;&lt;strong&gt;Role&lt;/strong&gt;&lt;/td&gt;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&lt;td&gt;&lt;strong&gt;Dept&lt;/strong&gt;&lt;/td&gt;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&lt;td&gt;Alice&lt;/td&gt;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&lt;td&gt;Engineer&lt;/td&gt;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&lt;td&gt;Tech&lt;/td&gt;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(Rule B applied)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4592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scope="col"&gt;Name&lt;/th&gt;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scope="col"&gt;Role&lt;/th&gt;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 scope="col"&gt;Dept&lt;/th&gt;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&lt;td&gt;Alice&lt;/td&gt;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&lt;td&gt;Engineer&lt;/td&gt;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&lt;td&gt;Tech&lt;/td&gt;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321040" cy="685800"/>
          </a:xfrm>
          <a:prstGeom prst="roundRect">
            <a:avLst>
              <a:gd name="adj" fmla="val 13333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062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Rule:  </a:t>
            </a:r>
            <a:r>
              <a:rPr lang="en-US" sz="1000" dirty="0">
                <a:solidFill>
                  <a:srgbClr val="9A9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cells in first row are bold  →  </a:t>
            </a:r>
            <a:r>
              <a:rPr lang="en-US" sz="10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 scope="col"&gt; + &lt;thead&gt;/&lt;tbody&gt;</a:t>
            </a:r>
            <a:r>
              <a:rPr lang="en-US" sz="100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 Any cell not bold  →  table left unchanged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Rules: D, E &amp; 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9050">
            <a:solidFill>
              <a:srgbClr val="F4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457200" cy="1371600"/>
          </a:xfrm>
          <a:prstGeom prst="roundRect">
            <a:avLst>
              <a:gd name="adj" fmla="val 20000"/>
            </a:avLst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850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Strikethrough 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AND their text content are deleted entirely — not just unstyled.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3474720" cy="594360"/>
          </a:xfrm>
          <a:prstGeom prst="roundRect">
            <a:avLst>
              <a:gd name="adj" fmla="val 10769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4475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 &lt;s&gt;discontinued&lt;/s&gt; product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~~removed feature~~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886200" cy="594360"/>
          </a:xfrm>
          <a:prstGeom prst="roundRect">
            <a:avLst>
              <a:gd name="adj" fmla="val 10769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4475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product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(text removed)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3EEFB"/>
          </a:solidFill>
          <a:ln w="19050">
            <a:solidFill>
              <a:srgbClr val="D4B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40280"/>
            <a:ext cx="457200" cy="1371600"/>
          </a:xfrm>
          <a:prstGeom prst="roundRect">
            <a:avLst>
              <a:gd name="adj" fmla="val 200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028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&lt;strong&gt; Always Wraps &lt;a&gt;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5786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nesting order: the bold element contains the link, not the other way around.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" y="2852928"/>
            <a:ext cx="3474720" cy="594360"/>
          </a:xfrm>
          <a:prstGeom prst="roundRect">
            <a:avLst>
              <a:gd name="adj" fmla="val 10769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88036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&lt;a href="..."&gt;&lt;strong&gt;Link&lt;/strong&gt;&lt;/a&gt;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2852928"/>
            <a:ext cx="3886200" cy="594360"/>
          </a:xfrm>
          <a:prstGeom prst="roundRect">
            <a:avLst>
              <a:gd name="adj" fmla="val 10769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88036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&lt;strong&gt;&lt;a href="..."&gt;Link&lt;/a&gt;&lt;/strong&gt;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FFF8EE"/>
          </a:solidFill>
          <a:ln w="19050">
            <a:solidFill>
              <a:srgbClr val="FBBF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75888"/>
            <a:ext cx="457200" cy="123444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75888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721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file:// URLs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0050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local file:// paths are reconstructed as https:// using the hostname found in the path.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120" y="4279392"/>
            <a:ext cx="3474720" cy="502920"/>
          </a:xfrm>
          <a:prstGeom prst="roundRect">
            <a:avLst>
              <a:gd name="adj" fmla="val 12727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30682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href="file://www.google.com/search"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4279392"/>
            <a:ext cx="3886200" cy="502920"/>
          </a:xfrm>
          <a:prstGeom prst="roundRect">
            <a:avLst>
              <a:gd name="adj" fmla="val 12727"/>
            </a:avLst>
          </a:prstGeom>
          <a:solidFill>
            <a:srgbClr val="1A1A18"/>
          </a:solidFill>
          <a:ln w="12700">
            <a:solidFill>
              <a:srgbClr val="1A1A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430682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href="https://www.google.com/search"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A1A18"/>
                </a:solidFill>
                <a:latin typeface="Calibri"/>
              </a:rPr>
              <a:t>Post-Conversion Test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A5952"/>
                </a:solidFill>
                <a:latin typeface="Calibri"/>
              </a:rPr>
              <a:t>Every conversion automatically runs 21 checks — failures show the exact line number to fix.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A1A18"/>
                </a:solidFill>
                <a:latin typeface="Courier New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A5952"/>
                </a:solidFill>
                <a:latin typeface="Calibri"/>
              </a:rPr>
              <a:t>TOTAL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344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D6A4F"/>
                </a:solidFill>
                <a:latin typeface="Courier New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276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A5952"/>
                </a:solidFill>
                <a:latin typeface="Calibri"/>
              </a:rPr>
              <a:t>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2344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C84B31"/>
                </a:solidFill>
                <a:latin typeface="Courier New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2763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A5952"/>
                </a:solidFill>
                <a:latin typeface="Calibri"/>
              </a:rPr>
              <a:t>FAILED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417320"/>
            <a:ext cx="3200400" cy="109728"/>
          </a:xfrm>
          <a:prstGeom prst="roundRect">
            <a:avLst>
              <a:gd name="adj" fmla="val 8000"/>
            </a:avLst>
          </a:prstGeom>
          <a:solidFill>
            <a:srgbClr val="E2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46320" y="1417320"/>
            <a:ext cx="2880360" cy="109728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12801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ourier New"/>
              </a:rPr>
              <a:t>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62763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A5952"/>
                </a:solidFill>
                <a:latin typeface="Calibri"/>
              </a:rPr>
              <a:t>PASS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103120"/>
            <a:ext cx="51206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2128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21284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8"/>
                </a:solidFill>
                <a:latin typeface="Calibri"/>
              </a:rPr>
              <a:t>No &lt;h1&gt; tags in output (h1 → h2)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31136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A5952"/>
                </a:solidFill>
                <a:latin typeface="Courier New"/>
              </a:rPr>
              <a:t>Rule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2831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28315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8"/>
                </a:solidFill>
                <a:latin typeface="Calibri"/>
              </a:rPr>
              <a:t>No &lt;b&gt; tags in output (b → strong)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546603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A5952"/>
                </a:solidFill>
                <a:latin typeface="Courier New"/>
              </a:rPr>
              <a:t>Rule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4378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8437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8"/>
                </a:solidFill>
                <a:latin typeface="Calibri"/>
              </a:rPr>
              <a:t>No &lt;u&gt; tags (underline removed)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862071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A5952"/>
                </a:solidFill>
                <a:latin typeface="Courier New"/>
              </a:rPr>
              <a:t>Rule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15925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84B31"/>
                </a:solidFill>
                <a:latin typeface="Calibr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159251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8"/>
                </a:solidFill>
                <a:latin typeface="Calibri"/>
              </a:rPr>
              <a:t>No &amp;nbsp; entities in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177539"/>
            <a:ext cx="777240" cy="219456"/>
          </a:xfrm>
          <a:prstGeom prst="roundRect">
            <a:avLst>
              <a:gd name="adj" fmla="val 8000"/>
            </a:avLst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3204971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Line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47471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474719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8"/>
                </a:solidFill>
                <a:latin typeface="Calibri"/>
              </a:rPr>
              <a:t>No &lt;s&gt;, &lt;del&gt;, &lt;strike&gt; tags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493007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A5952"/>
                </a:solidFill>
                <a:latin typeface="Courier New"/>
              </a:rPr>
              <a:t>Rule 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79018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84B31"/>
                </a:solidFill>
                <a:latin typeface="Calibr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790187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8"/>
                </a:solidFill>
                <a:latin typeface="Calibri"/>
              </a:rPr>
              <a:t>No &lt;a&gt;&lt;strong&gt; nesting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808475"/>
            <a:ext cx="777240" cy="219456"/>
          </a:xfrm>
          <a:prstGeom prst="roundRect">
            <a:avLst>
              <a:gd name="adj" fmla="val 8000"/>
            </a:avLst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34840" y="3835907"/>
            <a:ext cx="777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Line 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10565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05655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8"/>
                </a:solidFill>
                <a:latin typeface="Calibri"/>
              </a:rPr>
              <a:t>No file:// URLs in href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123943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A5952"/>
                </a:solidFill>
                <a:latin typeface="Courier New"/>
              </a:rPr>
              <a:t>Rule 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42112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42112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A1A18"/>
                </a:solidFill>
                <a:latin typeface="Calibri"/>
              </a:rPr>
              <a:t>No inline style= attributes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439411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A5952"/>
                </a:solidFill>
                <a:latin typeface="Courier New"/>
              </a:rPr>
              <a:t>General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736592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484632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⤓  Download Test Report (.html)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23560" y="2103120"/>
            <a:ext cx="31546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60720" y="21945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18"/>
                </a:solidFill>
                <a:latin typeface="Calibri"/>
              </a:rPr>
              <a:t>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1945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8"/>
                </a:solidFill>
                <a:latin typeface="Calibri"/>
              </a:rPr>
              <a:t>21 Automated Checks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468879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A5952"/>
                </a:solidFill>
                <a:latin typeface="Calibri"/>
              </a:rPr>
              <a:t>Covers all 14 conversion rules plus general checks: leftover styles, class attributes, tel: link format, and non-empty output.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23560" y="3200400"/>
            <a:ext cx="31546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60720" y="32918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18"/>
                </a:solidFill>
                <a:latin typeface="Calibri"/>
              </a:rPr>
              <a:t>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8"/>
                </a:solidFill>
                <a:latin typeface="Calibri"/>
              </a:rPr>
              <a:t>Line-Numbered Errors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5661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A5952"/>
                </a:solidFill>
                <a:latin typeface="Calibri"/>
              </a:rPr>
              <a:t>Every failed check points to the exact line number and code snippet in the converted HTML — no manual searching.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0" y="4297680"/>
            <a:ext cx="31546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60720" y="43891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18"/>
                </a:solidFill>
                <a:latin typeface="Calibri"/>
              </a:rPr>
              <a:t>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3891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A1A18"/>
                </a:solidFill>
                <a:latin typeface="Calibri"/>
              </a:rPr>
              <a:t>Standalone HTML Report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66344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5A5952"/>
                </a:solidFill>
                <a:latin typeface="Calibri"/>
              </a:rPr>
              <a:t>Self-contained report: scorecard, pass/fail breakdown grouped by rule, and the full converted HTML — ready to share.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EF3FB"/>
          </a:solidFill>
          <a:ln w="19050">
            <a:solidFill>
              <a:srgbClr val="2B57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69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5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Mammoth.js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→ HTML conversion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6733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Word documents to clean HTML, then 14 rules normalise the output.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DF7F0"/>
          </a:solidFill>
          <a:ln w="1905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069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SheetJS (xlsx)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 parsing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29000" y="16733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.xlsx, .xls and .csv. All sheets converted to HTML tables.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3EEFB"/>
          </a:solidFill>
          <a:ln w="19050">
            <a:solidFill>
              <a:srgbClr val="6B3FA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069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contenteditable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rich text editor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5080" y="16733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browser API. sanitizeEditorHtml() normalises output before rules run.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8EE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DOMParser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transformation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593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DOM-based rules run in a detached document — never touches the live page.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FFF0EE"/>
          </a:solidFill>
          <a:ln w="19050">
            <a:solidFill>
              <a:srgbClr val="C84B3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29000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B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execCommand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Toolbar formatting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3593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Bold, italic, alignment, lists, indent — standard browser formatting commands.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DF7F0"/>
          </a:solidFill>
          <a:ln w="1905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dependencies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319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CDN, no framework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55080" y="3593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libraries bundled locally. Works fully offline once downloaded.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run locally — open index.html and start converting.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252523"/>
          </a:solidFill>
          <a:ln w="12700">
            <a:solidFill>
              <a:srgbClr val="3D3D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1248" y="1691639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1872" y="17099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upload via Mammoth.js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600200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252523"/>
          </a:solidFill>
          <a:ln w="12700">
            <a:solidFill>
              <a:srgbClr val="3D3D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584448" y="1691639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05072" y="17099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CSV via SheetJS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252523"/>
          </a:solidFill>
          <a:ln w="12700">
            <a:solidFill>
              <a:srgbClr val="3D3D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27648" y="1691639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48272" y="17099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editor with full toolbar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31720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252523"/>
          </a:solidFill>
          <a:ln w="12700">
            <a:solidFill>
              <a:srgbClr val="3D3D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1248" y="2423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24414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row → semantic th scope="col"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331720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252523"/>
          </a:solidFill>
          <a:ln w="12700">
            <a:solidFill>
              <a:srgbClr val="3D3D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584448" y="2423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05072" y="24414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Strikethrough text removed entirely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331720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252523"/>
          </a:solidFill>
          <a:ln w="12700">
            <a:solidFill>
              <a:srgbClr val="3D3D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27648" y="2423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48272" y="24414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wraps a · file:// URLs fixed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9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required: index.html  ·  app.js  ·  style.css  ·  mammoth.min.js  ·  xlsx.min.js</a:t>
            </a:r>
            <a:endParaRPr 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1874519" y="3136392"/>
            <a:ext cx="5394960" cy="713232"/>
          </a:xfrm>
          <a:prstGeom prst="roundRect">
            <a:avLst>
              <a:gd name="adj" fmla="val 10000"/>
            </a:avLst>
          </a:prstGeom>
          <a:solidFill>
            <a:srgbClr val="252523"/>
          </a:solidFill>
          <a:ln w="12700">
            <a:solidFill>
              <a:srgbClr val="3D3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11680" y="3227832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1A1A18"/>
                </a:solidFill>
                <a:latin typeface="Calibri"/>
              </a:rPr>
              <a:t>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227832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D0CFC8"/>
                </a:solidFill>
                <a:latin typeface="Calibri"/>
              </a:rPr>
              <a:t>22 automated checks · line-numbered test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1397</Words>
  <Application>Microsoft Office PowerPoint</Application>
  <PresentationFormat>On-screen Show (16:9)</PresentationFormat>
  <Paragraphs>265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doc→html Converter — Project Demo</dc:title>
  <dc:subject>PptxGenJS Presentation</dc:subject>
  <dc:creator>doc→html Team</dc:creator>
  <cp:lastModifiedBy>Shanmuga Priya</cp:lastModifiedBy>
  <cp:revision>2</cp:revision>
  <dcterms:created xsi:type="dcterms:W3CDTF">2026-06-11T06:14:23Z</dcterms:created>
  <dcterms:modified xsi:type="dcterms:W3CDTF">2026-06-16T05:40:00Z</dcterms:modified>
</cp:coreProperties>
</file>