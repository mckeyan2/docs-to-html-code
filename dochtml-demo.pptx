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4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3" d="100"/>
          <a:sy n="103" d="100"/>
        </p:scale>
        <p:origin x="82" y="1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3953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71600" y="14630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3566160" y="146304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9A9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297680" y="14630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1371600" y="26060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A9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to HTML Converter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371600" y="3337560"/>
            <a:ext cx="1828800" cy="347472"/>
          </a:xfrm>
          <a:prstGeom prst="roundRect">
            <a:avLst>
              <a:gd name="adj" fmla="val 26316"/>
            </a:avLst>
          </a:prstGeom>
          <a:solidFill>
            <a:srgbClr val="2B579A">
              <a:alpha val="20000"/>
            </a:srgbClr>
          </a:solidFill>
          <a:ln w="12700">
            <a:solidFill>
              <a:srgbClr val="2B57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333756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.docx  Word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37560" y="3337560"/>
            <a:ext cx="1828800" cy="347472"/>
          </a:xfrm>
          <a:prstGeom prst="roundRect">
            <a:avLst>
              <a:gd name="adj" fmla="val 26316"/>
            </a:avLst>
          </a:prstGeom>
          <a:solidFill>
            <a:srgbClr val="2D6A4F">
              <a:alpha val="20000"/>
            </a:srgbClr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333756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.xlsx  Excel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03520" y="3337560"/>
            <a:ext cx="1828800" cy="347472"/>
          </a:xfrm>
          <a:prstGeom prst="roundRect">
            <a:avLst>
              <a:gd name="adj" fmla="val 26316"/>
            </a:avLst>
          </a:prstGeom>
          <a:solidFill>
            <a:srgbClr val="6B3FA0">
              <a:alpha val="20000"/>
            </a:srgbClr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0" y="333756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 Editor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371600" y="44805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browser-side  ·  No server upload  ·  Semantic HTML5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documents to HTML is tedious, error-prone, and produces style-bloated code.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840480" cy="402336"/>
          </a:xfrm>
          <a:prstGeom prst="roundRect">
            <a:avLst>
              <a:gd name="adj" fmla="val 13636"/>
            </a:avLst>
          </a:prstGeom>
          <a:solidFill>
            <a:srgbClr val="FFF0F0"/>
          </a:solidFill>
          <a:ln w="12700">
            <a:solidFill>
              <a:srgbClr val="F4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Manually tagging every heading, paragraph, list and table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956816"/>
            <a:ext cx="3840480" cy="402336"/>
          </a:xfrm>
          <a:prstGeom prst="roundRect">
            <a:avLst>
              <a:gd name="adj" fmla="val 13636"/>
            </a:avLst>
          </a:prstGeom>
          <a:solidFill>
            <a:srgbClr val="FFF0F0"/>
          </a:solidFill>
          <a:ln w="12700">
            <a:solidFill>
              <a:srgbClr val="F4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95681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Word pastes bring inline styles, XML junk, MSO conditional comments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450592"/>
            <a:ext cx="3840480" cy="402336"/>
          </a:xfrm>
          <a:prstGeom prst="roundRect">
            <a:avLst>
              <a:gd name="adj" fmla="val 13636"/>
            </a:avLst>
          </a:prstGeom>
          <a:solidFill>
            <a:srgbClr val="FFF0F0"/>
          </a:solidFill>
          <a:ln w="12700">
            <a:solidFill>
              <a:srgbClr val="F4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5059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Fax numbers accidentally get tel: links alongside phone numbers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944368"/>
            <a:ext cx="3840480" cy="402336"/>
          </a:xfrm>
          <a:prstGeom prst="roundRect">
            <a:avLst>
              <a:gd name="adj" fmla="val 13636"/>
            </a:avLst>
          </a:prstGeom>
          <a:solidFill>
            <a:srgbClr val="FFF0F0"/>
          </a:solidFill>
          <a:ln w="12700">
            <a:solidFill>
              <a:srgbClr val="F4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4436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Bold table headers stay as &lt;td&gt; instead of &lt;th scope="col"&gt;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438144"/>
            <a:ext cx="3840480" cy="402336"/>
          </a:xfrm>
          <a:prstGeom prst="roundRect">
            <a:avLst>
              <a:gd name="adj" fmla="val 13636"/>
            </a:avLst>
          </a:prstGeom>
          <a:solidFill>
            <a:srgbClr val="FFF0F0"/>
          </a:solidFill>
          <a:ln w="12700">
            <a:solidFill>
              <a:srgbClr val="F4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438144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Multiple &lt;strong&gt; tags stack up from repeated formatting passes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234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754880" y="1645920"/>
            <a:ext cx="3931920" cy="329184"/>
          </a:xfrm>
          <a:prstGeom prst="roundRect">
            <a:avLst>
              <a:gd name="adj" fmla="val 16667"/>
            </a:avLst>
          </a:prstGeom>
          <a:solidFill>
            <a:srgbClr val="EDF7F0"/>
          </a:solidFill>
          <a:ln w="12700">
            <a:solidFill>
              <a:srgbClr val="B7E1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164592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14 automatic transformation rules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2029968"/>
            <a:ext cx="3931920" cy="329184"/>
          </a:xfrm>
          <a:prstGeom prst="roundRect">
            <a:avLst>
              <a:gd name="adj" fmla="val 16667"/>
            </a:avLst>
          </a:prstGeom>
          <a:solidFill>
            <a:srgbClr val="EDF7F0"/>
          </a:solidFill>
          <a:ln w="12700">
            <a:solidFill>
              <a:srgbClr val="B7E1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202996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Strips all inline styles &amp; MSO junk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2414016"/>
            <a:ext cx="3931920" cy="329184"/>
          </a:xfrm>
          <a:prstGeom prst="roundRect">
            <a:avLst>
              <a:gd name="adj" fmla="val 16667"/>
            </a:avLst>
          </a:prstGeom>
          <a:solidFill>
            <a:srgbClr val="EDF7F0"/>
          </a:solidFill>
          <a:ln w="12700">
            <a:solidFill>
              <a:srgbClr val="B7E1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241401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Bold rows → &lt;th scope="col"&gt; detection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2798064"/>
            <a:ext cx="3931920" cy="329184"/>
          </a:xfrm>
          <a:prstGeom prst="roundRect">
            <a:avLst>
              <a:gd name="adj" fmla="val 16667"/>
            </a:avLst>
          </a:prstGeom>
          <a:solidFill>
            <a:srgbClr val="EDF7F0"/>
          </a:solidFill>
          <a:ln w="12700">
            <a:solidFill>
              <a:srgbClr val="B7E1C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2798064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Fax number exclusion from tel: links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3182112"/>
            <a:ext cx="3931920" cy="329184"/>
          </a:xfrm>
          <a:prstGeom prst="roundRect">
            <a:avLst>
              <a:gd name="adj" fmla="val 16667"/>
            </a:avLst>
          </a:prstGeom>
          <a:solidFill>
            <a:srgbClr val="EDF7F0"/>
          </a:solidFill>
          <a:ln w="12700">
            <a:solidFill>
              <a:srgbClr val="B7E1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318211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Strikethrough text removed entirely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3566160"/>
            <a:ext cx="3931920" cy="329184"/>
          </a:xfrm>
          <a:prstGeom prst="roundRect">
            <a:avLst>
              <a:gd name="adj" fmla="val 16667"/>
            </a:avLst>
          </a:prstGeom>
          <a:solidFill>
            <a:srgbClr val="EDF7F0"/>
          </a:solidFill>
          <a:ln w="12700">
            <a:solidFill>
              <a:srgbClr val="B7E1C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356616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&lt;strong&gt; always wraps &lt;a&gt; links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3950208"/>
            <a:ext cx="3931920" cy="329184"/>
          </a:xfrm>
          <a:prstGeom prst="roundRect">
            <a:avLst>
              <a:gd name="adj" fmla="val 16667"/>
            </a:avLst>
          </a:prstGeom>
          <a:solidFill>
            <a:srgbClr val="EDF7F0"/>
          </a:solidFill>
          <a:ln w="12700">
            <a:solidFill>
              <a:srgbClr val="B7E1C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395020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file:// URLs fixed to https://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54880" y="4334256"/>
            <a:ext cx="3931920" cy="329184"/>
          </a:xfrm>
          <a:prstGeom prst="roundRect">
            <a:avLst>
              <a:gd name="adj" fmla="val 16667"/>
            </a:avLst>
          </a:prstGeom>
          <a:solidFill>
            <a:srgbClr val="EDF7F0"/>
          </a:solidFill>
          <a:ln w="12700">
            <a:solidFill>
              <a:srgbClr val="B7E1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6320" y="433425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Consecutive &lt;strong&gt; tag merging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20040" y="868680"/>
            <a:ext cx="2011680" cy="3017520"/>
          </a:xfrm>
          <a:prstGeom prst="roundRect">
            <a:avLst>
              <a:gd name="adj" fmla="val 5455"/>
            </a:avLst>
          </a:prstGeom>
          <a:solidFill>
            <a:srgbClr val="EEF3FB"/>
          </a:solidFill>
          <a:ln w="19050">
            <a:solidFill>
              <a:srgbClr val="2B579A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20040" y="89611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371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.docx upload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.xlsx / .csv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1148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Text Editor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331720" y="219456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2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423160" y="868680"/>
            <a:ext cx="2011680" cy="3017520"/>
          </a:xfrm>
          <a:prstGeom prst="roundRect">
            <a:avLst>
              <a:gd name="adj" fmla="val 5455"/>
            </a:avLst>
          </a:prstGeom>
          <a:solidFill>
            <a:srgbClr val="FFF8EE"/>
          </a:solidFill>
          <a:ln w="19050">
            <a:solidFill>
              <a:srgbClr val="D97706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23160" y="89611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14600" y="1371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Mammoth.js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514600" y="1783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SheetJS (XLSX)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1460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contenteditable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34840" y="219456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2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526280" y="868680"/>
            <a:ext cx="2011680" cy="3017520"/>
          </a:xfrm>
          <a:prstGeom prst="roundRect">
            <a:avLst>
              <a:gd name="adj" fmla="val 5455"/>
            </a:avLst>
          </a:prstGeom>
          <a:solidFill>
            <a:srgbClr val="FEF3F2"/>
          </a:solidFill>
          <a:ln w="19050">
            <a:solidFill>
              <a:srgbClr val="C84B31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26280" y="89611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17720" y="1371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Strip styles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17720" y="1783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div→p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6177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span→b/i/u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537960" y="219456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2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629400" y="868680"/>
            <a:ext cx="2011680" cy="3017520"/>
          </a:xfrm>
          <a:prstGeom prst="roundRect">
            <a:avLst>
              <a:gd name="adj" fmla="val 5455"/>
            </a:avLst>
          </a:prstGeom>
          <a:solidFill>
            <a:srgbClr val="F3EEFB"/>
          </a:solidFill>
          <a:ln w="19050">
            <a:solidFill>
              <a:srgbClr val="6B3FA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29400" y="89611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20840" y="1371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 rules run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720840" y="1783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DOM pass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72084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String pass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20040" y="4069080"/>
            <a:ext cx="2743200" cy="658368"/>
          </a:xfrm>
          <a:prstGeom prst="roundRect">
            <a:avLst>
              <a:gd name="adj" fmla="val 13889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40873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2004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9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HTML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246120" y="4069080"/>
            <a:ext cx="2743200" cy="658368"/>
          </a:xfrm>
          <a:prstGeom prst="roundRect">
            <a:avLst>
              <a:gd name="adj" fmla="val 13889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46120" y="40873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24612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9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Indented source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72200" y="4069080"/>
            <a:ext cx="2743200" cy="658368"/>
          </a:xfrm>
          <a:prstGeom prst="roundRect">
            <a:avLst>
              <a:gd name="adj" fmla="val 13889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72200" y="40873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Download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7220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9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.txt file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549640" y="42519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Conversion Rules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identically to file uploads and the text editor — same output, every time.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40233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15568"/>
            <a:ext cx="347472" cy="493776"/>
          </a:xfrm>
          <a:prstGeom prst="roundRect">
            <a:avLst>
              <a:gd name="adj" fmla="val 2105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15568"/>
            <a:ext cx="3474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86384" y="11430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→ h2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86384" y="137160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 becomes &lt;h2&gt;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65760" y="1682496"/>
            <a:ext cx="40233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1682496"/>
            <a:ext cx="347472" cy="493776"/>
          </a:xfrm>
          <a:prstGeom prst="roundRect">
            <a:avLst>
              <a:gd name="adj" fmla="val 2105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682496"/>
            <a:ext cx="3474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" y="17099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→ tel: link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86384" y="193852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Fax numbers excluded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65760" y="2249424"/>
            <a:ext cx="40233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249424"/>
            <a:ext cx="347472" cy="493776"/>
          </a:xfrm>
          <a:prstGeom prst="roundRect">
            <a:avLst>
              <a:gd name="adj" fmla="val 2105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249424"/>
            <a:ext cx="3474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" y="227685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Sup/Sub → Unicode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86384" y="250545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&lt;sup&gt;TM&lt;/sup&gt; → &amp;trade;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2816352"/>
            <a:ext cx="40233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2816352"/>
            <a:ext cx="347472" cy="493776"/>
          </a:xfrm>
          <a:prstGeom prst="roundRect">
            <a:avLst>
              <a:gd name="adj" fmla="val 2105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2816352"/>
            <a:ext cx="3474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86384" y="284378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→ strong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86384" y="307238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&lt;b&gt; becomes &lt;strong&gt;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65760" y="3383280"/>
            <a:ext cx="40233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5760" y="3383280"/>
            <a:ext cx="347472" cy="493776"/>
          </a:xfrm>
          <a:prstGeom prst="roundRect">
            <a:avLst>
              <a:gd name="adj" fmla="val 2105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383280"/>
            <a:ext cx="3474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86384" y="341071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i/em → strong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86384" y="36393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 italic → bold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950208"/>
            <a:ext cx="40233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65760" y="3950208"/>
            <a:ext cx="347472" cy="493776"/>
          </a:xfrm>
          <a:prstGeom prst="roundRect">
            <a:avLst>
              <a:gd name="adj" fmla="val 2105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950208"/>
            <a:ext cx="3474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86384" y="39776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underline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86384" y="42062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&lt;u&gt; unwrapped, text kept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663440" y="1115568"/>
            <a:ext cx="40233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663440" y="1115568"/>
            <a:ext cx="347472" cy="493776"/>
          </a:xfrm>
          <a:prstGeom prst="roundRect">
            <a:avLst>
              <a:gd name="adj" fmla="val 2105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63440" y="1115568"/>
            <a:ext cx="3474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084064" y="11430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MSO junk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084064" y="137160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&lt;xml&gt;, &lt;!--[if mso]--&gt; removed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663440" y="1682496"/>
            <a:ext cx="40233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663440" y="1682496"/>
            <a:ext cx="347472" cy="493776"/>
          </a:xfrm>
          <a:prstGeom prst="roundRect">
            <a:avLst>
              <a:gd name="adj" fmla="val 2105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3440" y="1682496"/>
            <a:ext cx="3474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084064" y="17099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 entities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084064" y="193852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(C)(TM)(R) → &amp;copy;&amp;trade;&amp;reg;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663440" y="2249424"/>
            <a:ext cx="40233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663440" y="2249424"/>
            <a:ext cx="347472" cy="493776"/>
          </a:xfrm>
          <a:prstGeom prst="roundRect">
            <a:avLst>
              <a:gd name="adj" fmla="val 2105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63440" y="2249424"/>
            <a:ext cx="3474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084064" y="227685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scope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084064" y="250545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Bold row → &lt;th scope="col"&gt;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4663440" y="2816352"/>
            <a:ext cx="40233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663440" y="2816352"/>
            <a:ext cx="347472" cy="493776"/>
          </a:xfrm>
          <a:prstGeom prst="roundRect">
            <a:avLst>
              <a:gd name="adj" fmla="val 2105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63440" y="2816352"/>
            <a:ext cx="3474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084064" y="284378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Bluecard®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084064" y="307238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Bluecard → Bluecard&amp;reg;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663440" y="3383280"/>
            <a:ext cx="40233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4663440" y="3383280"/>
            <a:ext cx="347472" cy="493776"/>
          </a:xfrm>
          <a:prstGeom prst="roundRect">
            <a:avLst>
              <a:gd name="adj" fmla="val 2105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63440" y="3383280"/>
            <a:ext cx="3474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5084064" y="341071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&amp;nbsp;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084064" y="36393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&amp;nbsp; → regular space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663440" y="3950208"/>
            <a:ext cx="402336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E2E0D8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663440" y="3950208"/>
            <a:ext cx="347472" cy="493776"/>
          </a:xfrm>
          <a:prstGeom prst="roundRect">
            <a:avLst>
              <a:gd name="adj" fmla="val 21053"/>
            </a:avLst>
          </a:prstGeom>
          <a:solidFill>
            <a:srgbClr val="9B2C2C"/>
          </a:solidFill>
          <a:ln w="12700">
            <a:solidFill>
              <a:srgbClr val="9B2C2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663440" y="3950208"/>
            <a:ext cx="3474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5084064" y="39776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strikethrough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084064" y="42062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&lt;s&gt;/&lt;del&gt;/~~text~~ and content removed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65760" y="4663440"/>
            <a:ext cx="8412480" cy="329184"/>
          </a:xfrm>
          <a:prstGeom prst="roundRect">
            <a:avLst>
              <a:gd name="adj" fmla="val 22222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57200" y="466344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 E — &lt;strong&gt; wraps &lt;a&gt;    |    Rule C — Adjacent/nested &lt;strong&gt; merged    |    Rule F — file:// URLs fixed to https://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Text Editor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960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Toolbar Formatting Controls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4114800" cy="393192"/>
          </a:xfrm>
          <a:prstGeom prst="roundRect">
            <a:avLst>
              <a:gd name="adj" fmla="val 16279"/>
            </a:avLst>
          </a:prstGeom>
          <a:solidFill>
            <a:srgbClr val="EEF3FB"/>
          </a:solidFill>
          <a:ln w="12700">
            <a:solidFill>
              <a:srgbClr val="C7D9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4475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Format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828800" y="144475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Paragraph, H2–H6, Blockquote, Code block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1892808"/>
            <a:ext cx="4114800" cy="393192"/>
          </a:xfrm>
          <a:prstGeom prst="roundRect">
            <a:avLst>
              <a:gd name="adj" fmla="val 16279"/>
            </a:avLst>
          </a:prstGeom>
          <a:solidFill>
            <a:srgbClr val="EEF3FB"/>
          </a:solidFill>
          <a:ln w="12700">
            <a:solidFill>
              <a:srgbClr val="C7D9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9202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828800" y="19202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Bold, Italic, Underline, Strikethrough, Sup/Sub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65760" y="2368296"/>
            <a:ext cx="4114800" cy="393192"/>
          </a:xfrm>
          <a:prstGeom prst="roundRect">
            <a:avLst>
              <a:gd name="adj" fmla="val 16279"/>
            </a:avLst>
          </a:prstGeom>
          <a:solidFill>
            <a:srgbClr val="EEF3FB"/>
          </a:solidFill>
          <a:ln w="12700">
            <a:solidFill>
              <a:srgbClr val="C7D9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9572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828800" y="239572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list, Numbered list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" y="2843784"/>
            <a:ext cx="4114800" cy="393192"/>
          </a:xfrm>
          <a:prstGeom prst="roundRect">
            <a:avLst>
              <a:gd name="adj" fmla="val 16279"/>
            </a:avLst>
          </a:prstGeom>
          <a:solidFill>
            <a:srgbClr val="EEF3FB"/>
          </a:solidFill>
          <a:ln w="12700">
            <a:solidFill>
              <a:srgbClr val="C7D9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87121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828800" y="287121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Left, Centre, Right, Justify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3319272"/>
            <a:ext cx="4114800" cy="393192"/>
          </a:xfrm>
          <a:prstGeom prst="roundRect">
            <a:avLst>
              <a:gd name="adj" fmla="val 16279"/>
            </a:avLst>
          </a:prstGeom>
          <a:solidFill>
            <a:srgbClr val="EEF3FB"/>
          </a:solidFill>
          <a:ln w="12700">
            <a:solidFill>
              <a:srgbClr val="C7D9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34670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Indent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828800" y="334670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/ Decrease indent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3794760"/>
            <a:ext cx="4114800" cy="393192"/>
          </a:xfrm>
          <a:prstGeom prst="roundRect">
            <a:avLst>
              <a:gd name="adj" fmla="val 16279"/>
            </a:avLst>
          </a:prstGeom>
          <a:solidFill>
            <a:srgbClr val="EEF3FB"/>
          </a:solidFill>
          <a:ln w="12700">
            <a:solidFill>
              <a:srgbClr val="C7D9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8221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828800" y="382219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(with URL prompt), Horizontal rule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65760" y="4270248"/>
            <a:ext cx="4114800" cy="393192"/>
          </a:xfrm>
          <a:prstGeom prst="roundRect">
            <a:avLst>
              <a:gd name="adj" fmla="val 16279"/>
            </a:avLst>
          </a:prstGeom>
          <a:solidFill>
            <a:srgbClr val="EEF3FB"/>
          </a:solidFill>
          <a:ln w="12700">
            <a:solidFill>
              <a:srgbClr val="C7D9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2976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B5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828800" y="429768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formatting, Clear all content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4632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HTML → Clean Semantic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846320" y="1417320"/>
            <a:ext cx="3931920" cy="393192"/>
          </a:xfrm>
          <a:prstGeom prst="roundRect">
            <a:avLst>
              <a:gd name="adj" fmla="val 16279"/>
            </a:avLst>
          </a:prstGeom>
          <a:solidFill>
            <a:srgbClr val="F3EEFB"/>
          </a:solidFill>
          <a:ln w="12700">
            <a:solidFill>
              <a:srgbClr val="D4B8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144475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3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&lt;div&gt;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03720" y="144475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&lt;p&gt;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846320" y="1892808"/>
            <a:ext cx="3931920" cy="393192"/>
          </a:xfrm>
          <a:prstGeom prst="roundRect">
            <a:avLst>
              <a:gd name="adj" fmla="val 16279"/>
            </a:avLst>
          </a:prstGeom>
          <a:solidFill>
            <a:srgbClr val="F3EEFB"/>
          </a:solidFill>
          <a:ln w="12700">
            <a:solidFill>
              <a:srgbClr val="D4B8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37760" y="1920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3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&lt;span style="font-weight"&gt;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903720" y="1920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&lt;b&gt; → &lt;strong&gt;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846320" y="2368296"/>
            <a:ext cx="3931920" cy="393192"/>
          </a:xfrm>
          <a:prstGeom prst="roundRect">
            <a:avLst>
              <a:gd name="adj" fmla="val 16279"/>
            </a:avLst>
          </a:prstGeom>
          <a:solidFill>
            <a:srgbClr val="F3EEFB"/>
          </a:solidFill>
          <a:ln w="12700">
            <a:solidFill>
              <a:srgbClr val="D4B8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7760" y="23957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3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&lt;span style="font-style"&gt;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903720" y="239572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&lt;i&gt; → &lt;strong&gt;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846320" y="2843784"/>
            <a:ext cx="3931920" cy="393192"/>
          </a:xfrm>
          <a:prstGeom prst="roundRect">
            <a:avLst>
              <a:gd name="adj" fmla="val 16279"/>
            </a:avLst>
          </a:prstGeom>
          <a:solidFill>
            <a:srgbClr val="F3EEFB"/>
          </a:solidFill>
          <a:ln w="12700">
            <a:solidFill>
              <a:srgbClr val="D4B8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0" y="287121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3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&lt;span style="underline"&gt;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903720" y="2871216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&lt;u&gt; → removed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846320" y="3319272"/>
            <a:ext cx="3931920" cy="393192"/>
          </a:xfrm>
          <a:prstGeom prst="roundRect">
            <a:avLst>
              <a:gd name="adj" fmla="val 16279"/>
            </a:avLst>
          </a:prstGeom>
          <a:solidFill>
            <a:srgbClr val="F3EEFB"/>
          </a:solidFill>
          <a:ln w="12700">
            <a:solidFill>
              <a:srgbClr val="D4B8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37760" y="334670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3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style="text-align:…"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903720" y="3346704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attribute stripped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46320" y="3794760"/>
            <a:ext cx="3931920" cy="393192"/>
          </a:xfrm>
          <a:prstGeom prst="roundRect">
            <a:avLst>
              <a:gd name="adj" fmla="val 16279"/>
            </a:avLst>
          </a:prstGeom>
          <a:solidFill>
            <a:srgbClr val="F3EEFB"/>
          </a:solidFill>
          <a:ln w="12700">
            <a:solidFill>
              <a:srgbClr val="D4B8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37760" y="38221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3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&lt;font color="…"&gt;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903720" y="382219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tag removed, text kept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846320" y="4270248"/>
            <a:ext cx="3931920" cy="393192"/>
          </a:xfrm>
          <a:prstGeom prst="roundRect">
            <a:avLst>
              <a:gd name="adj" fmla="val 16279"/>
            </a:avLst>
          </a:prstGeom>
          <a:solidFill>
            <a:srgbClr val="F3EEFB"/>
          </a:solidFill>
          <a:ln w="12700">
            <a:solidFill>
              <a:srgbClr val="D4B8F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37760" y="42976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3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class="…"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903720" y="429768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attribute stripped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Table Detection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 first-row cells are automatically promoted to semantic column headings.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4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 (Mammoth raw output)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3840480" cy="2377440"/>
          </a:xfrm>
          <a:prstGeom prst="roundRect">
            <a:avLst>
              <a:gd name="adj" fmla="val 3846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9164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&lt;table&gt;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&lt;tr&gt;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&lt;td&gt;&lt;strong&gt;Name&lt;/strong&gt;&lt;/td&gt;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&lt;td&gt;&lt;strong&gt;Role&lt;/strong&gt;&lt;/td&gt;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&lt;td&gt;&lt;strong&gt;Dept&lt;/strong&gt;&lt;/td&gt;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&lt;/tr&gt;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&lt;tr&gt;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&lt;td&gt;Alice&lt;/td&gt;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&lt;td&gt;Engineer&lt;/td&gt;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&lt;td&gt;Tech&lt;/td&gt;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&lt;/tr&gt;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&lt;/table&gt;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38912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937760" y="1280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 (Rule B applied)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937760" y="1645920"/>
            <a:ext cx="3840480" cy="2377440"/>
          </a:xfrm>
          <a:prstGeom prst="roundRect">
            <a:avLst>
              <a:gd name="adj" fmla="val 3846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169164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&lt;table&gt;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&lt;thead&gt;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&lt;tr&gt;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&lt;th scope="col"&gt;Name&lt;/th&gt;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&lt;th scope="col"&gt;Role&lt;/th&gt;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&lt;th scope="col"&gt;Dept&lt;/th&gt;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&lt;/tr&gt;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&lt;/thead&gt;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&lt;tbody&gt;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&lt;tr&gt;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&lt;td&gt;Alice&lt;/td&gt;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&lt;td&gt;Engineer&lt;/td&gt;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&lt;td&gt;Tech&lt;/td&gt;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&lt;/tr&gt;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&lt;/tbody&gt;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&lt;/table&gt;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4160520"/>
            <a:ext cx="8321040" cy="685800"/>
          </a:xfrm>
          <a:prstGeom prst="roundRect">
            <a:avLst>
              <a:gd name="adj" fmla="val 13333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2062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 Rule:  </a:t>
            </a:r>
            <a:r>
              <a:rPr lang="en-US" sz="1000" dirty="0">
                <a:solidFill>
                  <a:srgbClr val="9A98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cells in first row are bold  →  </a:t>
            </a:r>
            <a:r>
              <a:rPr lang="en-US" sz="10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&lt;th scope="col"&gt; + &lt;thead&gt;/&lt;tbody&gt;</a:t>
            </a:r>
            <a:r>
              <a:rPr lang="en-US" sz="100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   Any cell not bold  →  table left unchanged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New Rules: D, E &amp; F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8412480" cy="1371600"/>
          </a:xfrm>
          <a:prstGeom prst="roundRect">
            <a:avLst>
              <a:gd name="adj" fmla="val 6667"/>
            </a:avLst>
          </a:prstGeom>
          <a:solidFill>
            <a:srgbClr val="FFF0F0"/>
          </a:solidFill>
          <a:ln w="19050">
            <a:solidFill>
              <a:srgbClr val="F4CCC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04672"/>
            <a:ext cx="457200" cy="1371600"/>
          </a:xfrm>
          <a:prstGeom prst="roundRect">
            <a:avLst>
              <a:gd name="adj" fmla="val 20000"/>
            </a:avLst>
          </a:prstGeom>
          <a:solidFill>
            <a:srgbClr val="9B2C2C"/>
          </a:solidFill>
          <a:ln w="12700">
            <a:solidFill>
              <a:srgbClr val="9B2C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04672"/>
            <a:ext cx="45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8503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Strikethrough Text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114300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AND their text content are deleted entirely — not just unstyled.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960120" y="1417320"/>
            <a:ext cx="3474720" cy="594360"/>
          </a:xfrm>
          <a:prstGeom prst="roundRect">
            <a:avLst>
              <a:gd name="adj" fmla="val 10769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1444752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Input:   &lt;s&gt;discontinued&lt;/s&gt; product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~~removed feature~~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709160" y="1417320"/>
            <a:ext cx="3886200" cy="594360"/>
          </a:xfrm>
          <a:prstGeom prst="roundRect">
            <a:avLst>
              <a:gd name="adj" fmla="val 10769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44475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Output:  product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(text removed)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65760" y="2240280"/>
            <a:ext cx="8412480" cy="1371600"/>
          </a:xfrm>
          <a:prstGeom prst="roundRect">
            <a:avLst>
              <a:gd name="adj" fmla="val 6667"/>
            </a:avLst>
          </a:prstGeom>
          <a:solidFill>
            <a:srgbClr val="F3EEFB"/>
          </a:solidFill>
          <a:ln w="19050">
            <a:solidFill>
              <a:srgbClr val="D4B8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240280"/>
            <a:ext cx="457200" cy="1371600"/>
          </a:xfrm>
          <a:prstGeom prst="roundRect">
            <a:avLst>
              <a:gd name="adj" fmla="val 20000"/>
            </a:avLst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240280"/>
            <a:ext cx="45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" y="22860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&lt;strong&gt; Always Wraps &lt;a&gt;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257860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nesting order: the bold element contains the link, not the other way around.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60120" y="2852928"/>
            <a:ext cx="3474720" cy="594360"/>
          </a:xfrm>
          <a:prstGeom prst="roundRect">
            <a:avLst>
              <a:gd name="adj" fmla="val 10769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1560" y="288036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&lt;a href="..."&gt;&lt;strong&gt;Link&lt;/strong&gt;&lt;/a&gt;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709160" y="2852928"/>
            <a:ext cx="3886200" cy="594360"/>
          </a:xfrm>
          <a:prstGeom prst="roundRect">
            <a:avLst>
              <a:gd name="adj" fmla="val 10769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2880360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 &lt;strong&gt;&lt;a href="..."&gt;Link&lt;/a&gt;&lt;/strong&gt;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234440"/>
          </a:xfrm>
          <a:prstGeom prst="roundRect">
            <a:avLst>
              <a:gd name="adj" fmla="val 7407"/>
            </a:avLst>
          </a:prstGeom>
          <a:solidFill>
            <a:srgbClr val="FFF8EE"/>
          </a:solidFill>
          <a:ln w="19050">
            <a:solidFill>
              <a:srgbClr val="FBB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3675888"/>
            <a:ext cx="457200" cy="123444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675888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60120" y="37216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file:// URLs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60120" y="400507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local file:// paths are reconstructed as https:// using the hostname found in the path.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60120" y="4279392"/>
            <a:ext cx="3474720" cy="502920"/>
          </a:xfrm>
          <a:prstGeom prst="roundRect">
            <a:avLst>
              <a:gd name="adj" fmla="val 12727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51560" y="4306824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href="file://www.google.com/search"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709160" y="4279392"/>
            <a:ext cx="3886200" cy="502920"/>
          </a:xfrm>
          <a:prstGeom prst="roundRect">
            <a:avLst>
              <a:gd name="adj" fmla="val 12727"/>
            </a:avLst>
          </a:prstGeom>
          <a:solidFill>
            <a:srgbClr val="1A1A18"/>
          </a:solidFill>
          <a:ln w="12700">
            <a:solidFill>
              <a:srgbClr val="1A1A1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4306824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D5A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href="https://www.google.com/search"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A1A18"/>
                </a:solidFill>
                <a:latin typeface="Calibri"/>
              </a:rPr>
              <a:t>Post-Conversion Test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5A5952"/>
                </a:solidFill>
                <a:latin typeface="Calibri"/>
              </a:rPr>
              <a:t>Every conversion automatically runs 21 checks — failures show the exact line number to fix.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43000"/>
            <a:ext cx="84124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A1A18"/>
                </a:solidFill>
                <a:latin typeface="Courier New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27632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5A5952"/>
                </a:solidFill>
                <a:latin typeface="Calibri"/>
              </a:rPr>
              <a:t>TOTAL CHECKS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23444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2D6A4F"/>
                </a:solidFill>
                <a:latin typeface="Courier New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627632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5A5952"/>
                </a:solidFill>
                <a:latin typeface="Calibri"/>
              </a:rPr>
              <a:t>PASSED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23444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C84B31"/>
                </a:solidFill>
                <a:latin typeface="Courier New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627632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5A5952"/>
                </a:solidFill>
                <a:latin typeface="Calibri"/>
              </a:rPr>
              <a:t>FAILED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1417320"/>
            <a:ext cx="3200400" cy="109728"/>
          </a:xfrm>
          <a:prstGeom prst="roundRect">
            <a:avLst>
              <a:gd name="adj" fmla="val 8000"/>
            </a:avLst>
          </a:prstGeom>
          <a:solidFill>
            <a:srgbClr val="E2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846320" y="1417320"/>
            <a:ext cx="2880360" cy="109728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83879" y="128016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D97706"/>
                </a:solidFill>
                <a:latin typeface="Courier New"/>
              </a:rPr>
              <a:t>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627632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5A5952"/>
                </a:solidFill>
                <a:latin typeface="Calibri"/>
              </a:rPr>
              <a:t>PASS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03120"/>
            <a:ext cx="512064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221284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D6A4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21284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A1A18"/>
                </a:solidFill>
                <a:latin typeface="Calibri"/>
              </a:rPr>
              <a:t>No &lt;h1&gt; tags in output (h1 → h2)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231136"/>
            <a:ext cx="868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5A5952"/>
                </a:solidFill>
                <a:latin typeface="Courier New"/>
              </a:rPr>
              <a:t>Rule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528315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D6A4F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528315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A1A18"/>
                </a:solidFill>
                <a:latin typeface="Calibri"/>
              </a:rPr>
              <a:t>No &lt;b&gt; tags in output (b → strong)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2546603"/>
            <a:ext cx="868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5A5952"/>
                </a:solidFill>
                <a:latin typeface="Courier New"/>
              </a:rPr>
              <a:t>Rule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843783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D6A4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2843783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A1A18"/>
                </a:solidFill>
                <a:latin typeface="Calibri"/>
              </a:rPr>
              <a:t>No &lt;u&gt; tags (underline removed)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2862071"/>
            <a:ext cx="868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5A5952"/>
                </a:solidFill>
                <a:latin typeface="Courier New"/>
              </a:rPr>
              <a:t>Rule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159251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C84B31"/>
                </a:solidFill>
                <a:latin typeface="Calibri"/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159251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A1A18"/>
                </a:solidFill>
                <a:latin typeface="Calibri"/>
              </a:rPr>
              <a:t>No &amp;nbsp; entities in output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34840" y="3177539"/>
            <a:ext cx="777240" cy="219456"/>
          </a:xfrm>
          <a:prstGeom prst="roundRect">
            <a:avLst>
              <a:gd name="adj" fmla="val 8000"/>
            </a:avLst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34840" y="3204971"/>
            <a:ext cx="777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ourier New"/>
              </a:rPr>
              <a:t>Line 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474719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D6A4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3474719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A1A18"/>
                </a:solidFill>
                <a:latin typeface="Calibri"/>
              </a:rPr>
              <a:t>No &lt;s&gt;, &lt;del&gt;, &lt;strike&gt; tags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3493007"/>
            <a:ext cx="868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5A5952"/>
                </a:solidFill>
                <a:latin typeface="Courier New"/>
              </a:rPr>
              <a:t>Rule 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790187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C84B31"/>
                </a:solidFill>
                <a:latin typeface="Calibri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3790187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A1A18"/>
                </a:solidFill>
                <a:latin typeface="Calibri"/>
              </a:rPr>
              <a:t>No &lt;a&gt;&lt;strong&gt; nesting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34840" y="3808475"/>
            <a:ext cx="777240" cy="219456"/>
          </a:xfrm>
          <a:prstGeom prst="roundRect">
            <a:avLst>
              <a:gd name="adj" fmla="val 8000"/>
            </a:avLst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434840" y="3835907"/>
            <a:ext cx="777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ourier New"/>
              </a:rPr>
              <a:t>Line 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105655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D6A4F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4105655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A1A18"/>
                </a:solidFill>
                <a:latin typeface="Calibri"/>
              </a:rPr>
              <a:t>No file:// URLs in href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4123943"/>
            <a:ext cx="868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5A5952"/>
                </a:solidFill>
                <a:latin typeface="Courier New"/>
              </a:rPr>
              <a:t>Rule 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4421123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D6A4F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4421123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A1A18"/>
                </a:solidFill>
                <a:latin typeface="Calibri"/>
              </a:rPr>
              <a:t>No inline style= attributes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4439411"/>
            <a:ext cx="868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5A5952"/>
                </a:solidFill>
                <a:latin typeface="Courier New"/>
              </a:rPr>
              <a:t>General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4736592"/>
            <a:ext cx="2468880" cy="384048"/>
          </a:xfrm>
          <a:prstGeom prst="roundRect">
            <a:avLst>
              <a:gd name="adj" fmla="val 8000"/>
            </a:avLst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65760" y="484632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⤓  Download Test Report (.html)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23560" y="2103120"/>
            <a:ext cx="31546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760720" y="219456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1A1A18"/>
                </a:solidFill>
                <a:latin typeface="Calibri"/>
              </a:rPr>
              <a:t>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219456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1A18"/>
                </a:solidFill>
                <a:latin typeface="Calibri"/>
              </a:rPr>
              <a:t>21 Automated Checks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63640" y="2468879"/>
            <a:ext cx="24231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5A5952"/>
                </a:solidFill>
                <a:latin typeface="Calibri"/>
              </a:rPr>
              <a:t>Covers all 14 conversion rules plus general checks: leftover styles, class attributes, tel: link format, and non-empty output.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23560" y="3200400"/>
            <a:ext cx="31546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760720" y="329184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1A1A18"/>
                </a:solidFill>
                <a:latin typeface="Calibri"/>
              </a:rPr>
              <a:t>📍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63640" y="32918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1A18"/>
                </a:solidFill>
                <a:latin typeface="Calibri"/>
              </a:rPr>
              <a:t>Line-Numbered Errors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63640" y="3566160"/>
            <a:ext cx="24231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5A5952"/>
                </a:solidFill>
                <a:latin typeface="Calibri"/>
              </a:rPr>
              <a:t>Every failed check points to the exact line number and code snippet in the converted HTML — no manual searching.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23560" y="4297680"/>
            <a:ext cx="315468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760720" y="438912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1A1A18"/>
                </a:solidFill>
                <a:latin typeface="Calibri"/>
              </a:rPr>
              <a:t>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63640" y="43891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1A18"/>
                </a:solidFill>
                <a:latin typeface="Calibri"/>
              </a:rPr>
              <a:t>Standalone HTML Report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63640" y="4663440"/>
            <a:ext cx="24231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5A5952"/>
                </a:solidFill>
                <a:latin typeface="Calibri"/>
              </a:rPr>
              <a:t>Self-contained report: scorecard, pass/fail breakdown grouped by rule, and the full converted HTML — ready to share.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EEF3FB"/>
          </a:solidFill>
          <a:ln w="19050">
            <a:solidFill>
              <a:srgbClr val="2B579A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02920" y="10698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5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Mammoth.js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39903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 → HTML conversion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167335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Word documents to clean HTML, then 14 rules normalise the output.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91840" y="96012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EDF7F0"/>
          </a:solidFill>
          <a:ln w="19050">
            <a:solidFill>
              <a:srgbClr val="2D6A4F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0698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SheetJS (xlsx)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29000" y="139903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/ CSV parsing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429000" y="167335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.xlsx, .xls and .csv. All sheets converted to HTML tables.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17920" y="96012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F3EEFB"/>
          </a:solidFill>
          <a:ln w="19050">
            <a:solidFill>
              <a:srgbClr val="6B3FA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55080" y="10698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3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contenteditable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55080" y="139903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rich text editor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55080" y="167335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browser API. sanitizeEditorHtml() normalises output before rules run.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288036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FFF8EE"/>
          </a:solidFill>
          <a:ln w="19050">
            <a:solidFill>
              <a:srgbClr val="D97706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2920" y="29900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DOMParser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" y="331927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transformation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" y="359359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DOM-based rules run in a detached document — never touches the live page.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91840" y="288036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FFF0EE"/>
          </a:solidFill>
          <a:ln w="19050">
            <a:solidFill>
              <a:srgbClr val="C84B31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429000" y="29900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4B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execCommand API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429000" y="331927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Toolbar formatting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429000" y="359359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Bold, italic, alignment, lists, indent — standard browser formatting commands.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217920" y="288036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EDF7F0"/>
          </a:solidFill>
          <a:ln w="19050">
            <a:solidFill>
              <a:srgbClr val="2D6A4F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355080" y="29900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A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 dependencies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55080" y="331927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CDN, no framework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355080" y="359359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libraries bundled locally. Works fully offline once downloaded.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1440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Use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A98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files run locally — open index.html and start converting.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2468880" cy="713232"/>
          </a:xfrm>
          <a:prstGeom prst="roundRect">
            <a:avLst>
              <a:gd name="adj" fmla="val 12821"/>
            </a:avLst>
          </a:prstGeom>
          <a:solidFill>
            <a:srgbClr val="252523"/>
          </a:solidFill>
          <a:ln w="12700">
            <a:solidFill>
              <a:srgbClr val="3D3D3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691639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61872" y="1709928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0C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 upload via Mammoth.js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74720" y="1600200"/>
            <a:ext cx="2468880" cy="713232"/>
          </a:xfrm>
          <a:prstGeom prst="roundRect">
            <a:avLst>
              <a:gd name="adj" fmla="val 12821"/>
            </a:avLst>
          </a:prstGeom>
          <a:solidFill>
            <a:srgbClr val="252523"/>
          </a:solidFill>
          <a:ln w="12700">
            <a:solidFill>
              <a:srgbClr val="3D3D3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84448" y="1691639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005072" y="1709928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0C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&amp; CSV via SheetJS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468880" cy="713232"/>
          </a:xfrm>
          <a:prstGeom prst="roundRect">
            <a:avLst>
              <a:gd name="adj" fmla="val 12821"/>
            </a:avLst>
          </a:prstGeom>
          <a:solidFill>
            <a:srgbClr val="252523"/>
          </a:solidFill>
          <a:ln w="12700">
            <a:solidFill>
              <a:srgbClr val="3D3D3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7648" y="1691639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748272" y="1709928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0C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text editor with full toolbar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2331720"/>
            <a:ext cx="2468880" cy="713232"/>
          </a:xfrm>
          <a:prstGeom prst="roundRect">
            <a:avLst>
              <a:gd name="adj" fmla="val 12821"/>
            </a:avLst>
          </a:prstGeom>
          <a:solidFill>
            <a:srgbClr val="252523"/>
          </a:solidFill>
          <a:ln w="12700">
            <a:solidFill>
              <a:srgbClr val="3D3D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242316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61872" y="2441448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0C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 row → semantic th scope="col"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4720" y="2331720"/>
            <a:ext cx="2468880" cy="713232"/>
          </a:xfrm>
          <a:prstGeom prst="roundRect">
            <a:avLst>
              <a:gd name="adj" fmla="val 12821"/>
            </a:avLst>
          </a:prstGeom>
          <a:solidFill>
            <a:srgbClr val="252523"/>
          </a:solidFill>
          <a:ln w="12700">
            <a:solidFill>
              <a:srgbClr val="3D3D3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84448" y="242316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005072" y="2441448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0C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Strikethrough text removed entirely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17920" y="2331720"/>
            <a:ext cx="2468880" cy="713232"/>
          </a:xfrm>
          <a:prstGeom prst="roundRect">
            <a:avLst>
              <a:gd name="adj" fmla="val 12821"/>
            </a:avLst>
          </a:prstGeom>
          <a:solidFill>
            <a:srgbClr val="252523"/>
          </a:solidFill>
          <a:ln w="12700">
            <a:solidFill>
              <a:srgbClr val="3D3D3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27648" y="242316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748272" y="2441448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0C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wraps a · file:// URLs fixed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46817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required: index.html  ·  app.js  ·  style.css  ·  mammoth.min.js  ·  xlsx.min.js</a:t>
            </a:r>
            <a:endParaRPr 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1874519" y="3136392"/>
            <a:ext cx="5394960" cy="713232"/>
          </a:xfrm>
          <a:prstGeom prst="roundRect">
            <a:avLst>
              <a:gd name="adj" fmla="val 10000"/>
            </a:avLst>
          </a:prstGeom>
          <a:solidFill>
            <a:srgbClr val="252523"/>
          </a:solidFill>
          <a:ln w="12700">
            <a:solidFill>
              <a:srgbClr val="3D3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011680" y="3227832"/>
            <a:ext cx="411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A1A18"/>
                </a:solidFill>
                <a:latin typeface="Calibri"/>
              </a:rPr>
              <a:t>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4600" y="3227832"/>
            <a:ext cx="45720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D0CFC8"/>
                </a:solidFill>
                <a:latin typeface="Calibri"/>
              </a:rPr>
              <a:t>21 automated checks · line-numbered test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1389</Words>
  <Application>Microsoft Office PowerPoint</Application>
  <PresentationFormat>On-screen Show (16:9)</PresentationFormat>
  <Paragraphs>262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doc→html Converter — Project Demo</dc:title>
  <dc:subject>PptxGenJS Presentation</dc:subject>
  <dc:creator>doc→html Team</dc:creator>
  <cp:lastModifiedBy>Shanmuga Priya</cp:lastModifiedBy>
  <cp:revision>2</cp:revision>
  <dcterms:created xsi:type="dcterms:W3CDTF">2026-06-11T06:14:23Z</dcterms:created>
  <dcterms:modified xsi:type="dcterms:W3CDTF">2026-06-14T08:38:28Z</dcterms:modified>
</cp:coreProperties>
</file>