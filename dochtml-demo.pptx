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657600" cy="3657600"/>
          </a:xfrm>
          <a:prstGeom prst="ellipse">
            <a:avLst/>
          </a:prstGeom>
          <a:solidFill>
            <a:srgbClr val="2D6A4F">
              <a:alpha val="25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6B3FA0">
              <a:alpha val="30000"/>
            </a:srgbClr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566160" y="14630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29768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371600" y="2606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to HTML Converter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579A">
              <a:alpha val="20000"/>
            </a:srgbClr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.docx  Word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D6A4F">
              <a:alpha val="20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.xlsx  Excel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6B3FA0">
              <a:alpha val="20000"/>
            </a:srgbClr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 Editor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4480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browser-side  ·  No server upload  ·  Semantic HTML5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documents to HTML is tedious, error-prone, and produces style-bloated code.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Manually tagging every heading, paragraph, list and table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56816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568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Word pastes bring inline styles, XML junk, MSO conditional comments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Fax numbers accidentally get tel: links alongside phone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443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Bold table headers stay as &lt;td&gt; instead of &lt;th scope="col"&gt;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438144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3814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Multiple &lt;strong&gt; tags stack up from repeated formatting passes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1645920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6459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14 automatic transformation rules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029968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0299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Strips all inline styles &amp; MSO junk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414016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4140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Bold rows → &lt;th scope="col"&gt; detection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798064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7980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Fax number exclusion from tel: links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182112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1821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Strikethrough text removed entirely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566160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661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&lt;strong&gt; always wraps &lt;a&gt; links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950208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95020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file:// URLs fixed to https://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4334256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43342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Consecutive &lt;strong&gt; tag merging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9050">
            <a:solidFill>
              <a:srgbClr val="2B579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.docx upload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.xlsx / .csv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Editor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3172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FF8EE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1460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Mammoth.js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SheetJS (XLSX)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1460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contenteditable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2628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EF3F2"/>
          </a:solidFill>
          <a:ln w="19050">
            <a:solidFill>
              <a:srgbClr val="C84B3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2628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 styles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1772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div→p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177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span→b/i/u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62940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 w="19050">
            <a:solidFill>
              <a:srgbClr val="6B3FA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2940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2084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 rules run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2084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 pass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2084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String pass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00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HTML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4612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4612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4612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source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Download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7220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.txt file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549640" y="4251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Conversion Rules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identically to file uploads and the text editor — same output, every time.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1556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86384" y="1143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→ h2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6384" y="1371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 becomes &lt;h2&gt;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682496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82496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709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→ tel: link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1938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Fax numbers excluded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2249424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249424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249424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" y="22768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Sup/Sub → Unicode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" y="25054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&lt;sup&gt;TM&lt;/sup&gt; → &amp;trade;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2816352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16352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816352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" y="2843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strong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" y="30723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&lt;b&gt; becomes &lt;strong&gt;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3383280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383280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383280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" y="34107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i/em → strong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" y="36393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italic → bold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95020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95020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95020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" y="3977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underline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6384" y="42062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&lt;u&gt; unwrapped, text kept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11556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111556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111556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84064" y="1143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MSO junk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84064" y="1371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&lt;xml&gt;, &lt;!--[if mso]--&gt; removed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63440" y="1682496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1682496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1682496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84064" y="1709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entities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84064" y="1938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(C)(TM)(R) → &amp;copy;&amp;trade;&amp;reg;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63440" y="2249424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63440" y="2249424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249424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084064" y="22768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scope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84064" y="25054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Bold row → &lt;th scope="col"&gt;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663440" y="2816352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63440" y="2816352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63440" y="2816352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084064" y="2843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Bluecard®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84064" y="30723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Bluecard → Bluecard&amp;reg;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63440" y="3383280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663440" y="3383280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63440" y="3383280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084064" y="34107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&amp;nbsp;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084064" y="36393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&amp;nbsp; → regular space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663440" y="395020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663440" y="395020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9B2C2C"/>
          </a:solidFill>
          <a:ln w="12700">
            <a:solidFill>
              <a:srgbClr val="9B2C2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63440" y="395020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084064" y="3977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strikethrough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84064" y="42062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&lt;s&gt;/&lt;del&gt;/~~text~~ and content removed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65760" y="4663440"/>
            <a:ext cx="8412480" cy="329184"/>
          </a:xfrm>
          <a:prstGeom prst="roundRect">
            <a:avLst>
              <a:gd name="adj" fmla="val 22222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" y="46634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E — &lt;strong&gt; wraps &lt;a&gt;    |    Rule C — Adjacent/nested &lt;strong&gt; merged    |    Rule F — file:// URLs fixed to https://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Text Editor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960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 Formatting Controls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Format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828800" y="14447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Paragraph, H2–H6, Blockquote, Code block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1892808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28800" y="19202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Underline, Strikethrough, Sup/Sub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list, Numbered list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843784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828800" y="28712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Left, Centre, Right, Justify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319272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467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33467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/ Decrease indent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794760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221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828800" y="3822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(with URL prompt), Horizontal rule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4270248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976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828800" y="42976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formatting, Clear all content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HTML → Clean Semantic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417320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14447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&lt;div&gt;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03720" y="14447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&lt;p&gt;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46320" y="1892808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style="font-weight"&gt;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037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&lt;b&gt; → &lt;strong&gt;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46320" y="2368296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23957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style="font-style"&gt;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903720" y="239572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&lt;i&gt; → &lt;strong&gt;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46320" y="2843784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7121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style="underline"&gt;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903720" y="28712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&lt;u&gt; → removed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46320" y="3319272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3467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style="text-align:…"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03720" y="334670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attribute stripped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46320" y="3794760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38221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color="…"&gt;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03720" y="38221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tag removed, text kept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846320" y="4270248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37760" y="42976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class="…"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903720" y="42976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attribute stripped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Table Detection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first-row cells are automatically promoted to semantic column headings.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(Mammoth raw output)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&lt;td&gt;&lt;strong&gt;Name&lt;/strong&gt;&lt;/td&gt;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&lt;td&gt;&lt;strong&gt;Role&lt;/strong&gt;&lt;/td&gt;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&lt;td&gt;&lt;strong&gt;Dept&lt;/strong&gt;&lt;/td&gt;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&lt;td&gt;Alice&lt;/td&gt;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&lt;td&gt;Engineer&lt;/td&gt;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&lt;td&gt;Tech&lt;/td&gt;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891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(Rule B applied)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4592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&lt;thead&gt;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scope="col"&gt;Name&lt;/th&gt;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scope="col"&gt;Role&lt;/th&gt;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scope="col"&gt;Dept&lt;/th&gt;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&lt;/thead&gt;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&lt;tbody&gt;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&lt;td&gt;Alice&lt;/td&gt;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&lt;td&gt;Engineer&lt;/td&gt;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&lt;td&gt;Tech&lt;/td&gt;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&lt;/tr&gt;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&lt;/tbody&gt;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321040" cy="685800"/>
          </a:xfrm>
          <a:prstGeom prst="roundRect">
            <a:avLst>
              <a:gd name="adj" fmla="val 1333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062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Rule:  </a:t>
            </a:r>
            <a:pPr indent="0" marL="0">
              <a:buNone/>
            </a:pPr>
            <a:r>
              <a:rPr lang="en-US" sz="1000" dirty="0">
                <a:solidFill>
                  <a:srgbClr val="9A98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cells in first row are bold  →  </a:t>
            </a:r>
            <a:pPr indent="0" marL="0">
              <a:buNone/>
            </a:pPr>
            <a:r>
              <a:rPr lang="en-US" sz="10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 scope="col"&gt; + &lt;thead&gt;/&lt;tbody&gt;</a:t>
            </a:r>
            <a:pPr indent="0" marL="0">
              <a:buNone/>
            </a:pPr>
            <a:r>
              <a:rPr lang="en-US" sz="10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Any cell not bold  →  table left unchanged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Rules: D, E &amp; 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FFF0F0"/>
          </a:solidFill>
          <a:ln w="19050">
            <a:solidFill>
              <a:srgbClr val="F4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04672"/>
            <a:ext cx="457200" cy="1371600"/>
          </a:xfrm>
          <a:prstGeom prst="roundRect">
            <a:avLst>
              <a:gd name="adj" fmla="val 20000"/>
            </a:avLst>
          </a:prstGeom>
          <a:solidFill>
            <a:srgbClr val="9B2C2C"/>
          </a:solidFill>
          <a:ln w="12700">
            <a:solidFill>
              <a:srgbClr val="9B2C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04672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850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Strikethrough Text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430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AND their text content are deleted entirely — not just unstyled.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60120" y="1417320"/>
            <a:ext cx="347472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4447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  &lt;s&gt;discontinued&lt;/s&gt; product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~~removed feature~~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88620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447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 product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(text removed)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F3EEFB"/>
          </a:solidFill>
          <a:ln w="19050">
            <a:solidFill>
              <a:srgbClr val="D4B8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240280"/>
            <a:ext cx="457200" cy="1371600"/>
          </a:xfrm>
          <a:prstGeom prst="roundRect">
            <a:avLst>
              <a:gd name="adj" fmla="val 20000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24028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22860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&lt;strong&gt; Always Wraps &lt;a&gt;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5786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nesting order: the bold element contains the link, not the other way around.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0120" y="2852928"/>
            <a:ext cx="347472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288036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&lt;a href="..."&gt;&lt;strong&gt;Link&lt;/strong&gt;&lt;/a&gt;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09160" y="2852928"/>
            <a:ext cx="388620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880360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&lt;strong&gt;&lt;a href="..."&gt;Link&lt;/a&gt;&lt;/strong&gt;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FFF8EE"/>
          </a:solidFill>
          <a:ln w="19050">
            <a:solidFill>
              <a:srgbClr val="FBB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675888"/>
            <a:ext cx="457200" cy="12344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675888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file:// URLs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00507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local file:// paths are reconstructed as https:// using the hostname found in the path.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0120" y="4279392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4306824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href="file://www.google.com/search"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09160" y="4279392"/>
            <a:ext cx="3886200" cy="502920"/>
          </a:xfrm>
          <a:prstGeom prst="roundRect">
            <a:avLst>
              <a:gd name="adj" fmla="val 12727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430682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href="https://www.google.com/search"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EF3FB"/>
          </a:solidFill>
          <a:ln w="19050">
            <a:solidFill>
              <a:srgbClr val="2B579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Mammoth.js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→ HTML conversion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Word documents to clean HTML, then 14 rules normalise the output.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DF7F0"/>
          </a:solidFill>
          <a:ln w="1905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SheetJS (xlsx)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 parsing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2900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.xlsx, .xls and .csv. All sheets converted to HTML tables.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3EEFB"/>
          </a:solidFill>
          <a:ln w="19050">
            <a:solidFill>
              <a:srgbClr val="6B3FA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contenteditable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rich text editor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508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browser API. sanitizeEditorHtml() normalises output before rules run.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8EE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DOMParser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transformation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DOM-based rules run in a detached document — never touches the live page.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0EE"/>
          </a:solidFill>
          <a:ln w="19050">
            <a:solidFill>
              <a:srgbClr val="C84B3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2900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B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execCommand API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 formatting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2900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alignment, lists, indent — standard browser formatting commands.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DF7F0"/>
          </a:solidFill>
          <a:ln w="1905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5508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dependencies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508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CDN, no framework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5508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libraries bundled locally. Works fully offline once downloaded.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2D6A4F">
              <a:alpha val="20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files run locally — open index.html and start converting.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83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1872" y="18013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upload via Mammoth.js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6916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1783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05072" y="18013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&amp; CSV via SheetJS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7830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48272" y="18013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text editor with full toolbar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6060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697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1872" y="27157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row → semantic th scope="col"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26060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2697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05072" y="27157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Strikethrough text removed entirely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260604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2697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48272" y="271576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wraps a · file:// URLs fixed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required: index.html  ·  app.js  ·  style.css  ·  mammoth.min.js  ·  xlsx.min.js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doc→html Converter — Project Demo</dc:title>
  <dc:subject>PptxGenJS Presentation</dc:subject>
  <dc:creator>doc→html Team</dc:creator>
  <cp:lastModifiedBy>doc→html Team</cp:lastModifiedBy>
  <cp:revision>1</cp:revision>
  <dcterms:created xsi:type="dcterms:W3CDTF">2026-06-11T06:14:23Z</dcterms:created>
  <dcterms:modified xsi:type="dcterms:W3CDTF">2026-06-11T06:14:23Z</dcterms:modified>
</cp:coreProperties>
</file>